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DFB8452-DAD4-1D2F-A2D4-36A31CE4353F}">
          <p14:sldIdLst>
            <p14:sldId id="256"/>
          </p14:sldIdLst>
        </p14:section>
        <p14:section name="Team" id="{F19921AE-4BE6-0DA6-590E-7E127A5DBC75}">
          <p14:sldIdLst>
            <p14:sldId id="257"/>
          </p14:sldIdLst>
        </p14:section>
        <p14:section name="Problem and solution" id="{0AEB7E76-7397-8A31-A196-9972A3E974A0}">
          <p14:sldIdLst>
            <p14:sldId id="258"/>
            <p14:sldId id="259"/>
            <p14:sldId id="271"/>
          </p14:sldIdLst>
        </p14:section>
        <p14:section name="Design and data" id="{FC6A1513-3F0B-BCCD-443F-B5696397BFEC}">
          <p14:sldIdLst>
            <p14:sldId id="260"/>
            <p14:sldId id="261"/>
            <p14:sldId id="272"/>
          </p14:sldIdLst>
        </p14:section>
        <p14:section name="Model and results" id="{004CA043-E935-9E42-211B-1A77B4DCD4D9}">
          <p14:sldIdLst>
            <p14:sldId id="262"/>
            <p14:sldId id="263"/>
            <p14:sldId id="264"/>
            <p14:sldId id="265"/>
            <p14:sldId id="266"/>
          </p14:sldIdLst>
        </p14:section>
        <p14:section name="Safety and wrap-up" id="{953610A6-7CDD-83F8-FE76-7B93C66E8022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6A99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3D6A99"/>
                </a:solidFill>
                <a:latin typeface="+mn-lt"/>
              </a:rPr>
              <a:t>Spike prediction quality (PR-AUC, chance = 0.12)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A5CDF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EB-427E-B547-9B84BBA1759B}"/>
              </c:ext>
            </c:extLst>
          </c:dPt>
          <c:dPt>
            <c:idx val="1"/>
            <c:invertIfNegative val="0"/>
            <c:bubble3D val="0"/>
            <c:spPr>
              <a:solidFill>
                <a:srgbClr val="70A2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EB-427E-B547-9B84BBA1759B}"/>
              </c:ext>
            </c:extLst>
          </c:dPt>
          <c:dPt>
            <c:idx val="2"/>
            <c:invertIfNegative val="0"/>
            <c:bubble3D val="0"/>
            <c:spPr>
              <a:solidFill>
                <a:srgbClr val="3D6A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EB-427E-B547-9B84BBA1759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2EB-427E-B547-9B84BBA1759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3D6A9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Health record only</c:v>
                </c:pt>
                <c:pt idx="1">
                  <c:v>Wearable + meal log</c:v>
                </c:pt>
                <c:pt idx="2">
                  <c:v>Fused (both)</c:v>
                </c:pt>
                <c:pt idx="3">
                  <c:v>Glucose stays same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</c:v>
                </c:pt>
                <c:pt idx="1">
                  <c:v>0.59</c:v>
                </c:pt>
                <c:pt idx="2">
                  <c:v>0.62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EB-427E-B547-9B84BBA175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6A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D6A99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3D6A99"/>
                </a:solidFill>
                <a:latin typeface="+mn-lt"/>
              </a:rPr>
              <a:t>Spikes caught (%) by scenario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Spikes caught (%)</c:v>
                </c:pt>
              </c:strCache>
            </c:strRef>
          </c:tx>
          <c:spPr>
            <a:solidFill>
              <a:srgbClr val="3D6A9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3D6A99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Clean data</c:v>
                </c:pt>
                <c:pt idx="1">
                  <c:v>Watch off</c:v>
                </c:pt>
                <c:pt idx="2">
                  <c:v>10% glucose missing</c:v>
                </c:pt>
                <c:pt idx="3">
                  <c:v>No meal log</c:v>
                </c:pt>
                <c:pt idx="4">
                  <c:v>Everything bad</c:v>
                </c:pt>
                <c:pt idx="5">
                  <c:v>Glucose sensor only</c:v>
                </c:pt>
                <c:pt idx="6">
                  <c:v>30% glucose missing</c:v>
                </c:pt>
                <c:pt idx="7">
                  <c:v>50% glucose missing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69</c:v>
                </c:pt>
                <c:pt idx="1">
                  <c:v>70</c:v>
                </c:pt>
                <c:pt idx="2">
                  <c:v>62</c:v>
                </c:pt>
                <c:pt idx="3">
                  <c:v>44</c:v>
                </c:pt>
                <c:pt idx="4">
                  <c:v>42</c:v>
                </c:pt>
                <c:pt idx="5">
                  <c:v>34</c:v>
                </c:pt>
                <c:pt idx="6">
                  <c:v>30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A5-43F2-A66A-8488825C5C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6A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925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60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78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6217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TwinHealth AI  |  Digital Twin Challenge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2011680" y="91440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6217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TwinHealth AI  |  Digital Twin Challenge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6217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TwinHealth AI  |  Digital Twin Challenge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6217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TwinHealth AI  |  Digital Twin Challenge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6217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TwinHealth AI  |  Digital Twin Challenge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6217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TwinHealth AI  |  Digital Twin Challenge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6217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TwinHealth AI  |  Digital Twin Challenge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6217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TwinHealth AI  |  Digital Twin Challenge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6217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Happiest Health Digital Twin Challenge  |  All data is synthetic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1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 title"/>
          <p:cNvSpPr txBox="1"/>
          <p:nvPr/>
        </p:nvSpPr>
        <p:spPr>
          <a:xfrm>
            <a:off x="2011680" y="1600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dirty="0">
                <a:ln w="317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TwinHealth</a:t>
            </a:r>
            <a:endParaRPr lang="en-US" sz="5600" dirty="0"/>
          </a:p>
          <a:p>
            <a:pPr marL="0" indent="0" algn="l">
              <a:buNone/>
            </a:pPr>
            <a:r>
              <a:rPr lang="en-US" sz="5600" dirty="0">
                <a:ln w="317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</a:t>
            </a:r>
            <a:endParaRPr lang="en-US" sz="5600" dirty="0"/>
          </a:p>
        </p:txBody>
      </p:sp>
      <p:sp>
        <p:nvSpPr>
          <p:cNvPr id="3" name="body_1"/>
          <p:cNvSpPr txBox="1"/>
          <p:nvPr/>
        </p:nvSpPr>
        <p:spPr>
          <a:xfrm>
            <a:off x="2103120" y="396849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A Digital Twin that warns of glucose spikes 2 hours ahead in type 2 diabetes (India)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2011680" y="914400"/>
            <a:ext cx="68690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Our Team: cosmic bloom</a:t>
            </a:r>
            <a:endParaRPr lang="en-US" sz="4000" dirty="0"/>
          </a:p>
        </p:txBody>
      </p:sp>
      <p:sp>
        <p:nvSpPr>
          <p:cNvPr id="3" name="Member card 1"/>
          <p:cNvSpPr/>
          <p:nvPr/>
        </p:nvSpPr>
        <p:spPr>
          <a:xfrm>
            <a:off x="1874520" y="2240280"/>
            <a:ext cx="1691640" cy="2148840"/>
          </a:xfrm>
          <a:prstGeom prst="roundRect">
            <a:avLst>
              <a:gd name="adj" fmla="val 648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vatar circle 1"/>
          <p:cNvSpPr/>
          <p:nvPr/>
        </p:nvSpPr>
        <p:spPr>
          <a:xfrm>
            <a:off x="2286000" y="2468880"/>
            <a:ext cx="868680" cy="8686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Avatar icon 1" descr="Team memb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697480"/>
            <a:ext cx="411480" cy="411480"/>
          </a:xfrm>
          <a:prstGeom prst="rect">
            <a:avLst/>
          </a:prstGeom>
        </p:spPr>
      </p:pic>
      <p:sp>
        <p:nvSpPr>
          <p:cNvPr id="6" name="Member name 1"/>
          <p:cNvSpPr txBox="1"/>
          <p:nvPr/>
        </p:nvSpPr>
        <p:spPr>
          <a:xfrm>
            <a:off x="1965960" y="35204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DEEPIKA E</a:t>
            </a:r>
            <a:endParaRPr lang="en-US" sz="1600" dirty="0"/>
          </a:p>
        </p:txBody>
      </p:sp>
      <p:sp>
        <p:nvSpPr>
          <p:cNvPr id="7" name="Member card 2"/>
          <p:cNvSpPr/>
          <p:nvPr/>
        </p:nvSpPr>
        <p:spPr>
          <a:xfrm>
            <a:off x="3749040" y="2240280"/>
            <a:ext cx="1691640" cy="2148840"/>
          </a:xfrm>
          <a:prstGeom prst="roundRect">
            <a:avLst>
              <a:gd name="adj" fmla="val 648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Avatar circle 2"/>
          <p:cNvSpPr/>
          <p:nvPr/>
        </p:nvSpPr>
        <p:spPr>
          <a:xfrm>
            <a:off x="4160520" y="2468880"/>
            <a:ext cx="868680" cy="8686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Avatar icon 2" descr="Team memb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697480"/>
            <a:ext cx="411480" cy="411480"/>
          </a:xfrm>
          <a:prstGeom prst="rect">
            <a:avLst/>
          </a:prstGeom>
        </p:spPr>
      </p:pic>
      <p:sp>
        <p:nvSpPr>
          <p:cNvPr id="10" name="Member name 2"/>
          <p:cNvSpPr txBox="1"/>
          <p:nvPr/>
        </p:nvSpPr>
        <p:spPr>
          <a:xfrm>
            <a:off x="3840480" y="35204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JAYASRI D</a:t>
            </a:r>
            <a:endParaRPr lang="en-US" sz="1600" dirty="0"/>
          </a:p>
        </p:txBody>
      </p:sp>
      <p:sp>
        <p:nvSpPr>
          <p:cNvPr id="11" name="Member card 3"/>
          <p:cNvSpPr/>
          <p:nvPr/>
        </p:nvSpPr>
        <p:spPr>
          <a:xfrm>
            <a:off x="5623560" y="2240280"/>
            <a:ext cx="1691640" cy="2148840"/>
          </a:xfrm>
          <a:prstGeom prst="roundRect">
            <a:avLst>
              <a:gd name="adj" fmla="val 648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Avatar circle 3"/>
          <p:cNvSpPr/>
          <p:nvPr/>
        </p:nvSpPr>
        <p:spPr>
          <a:xfrm>
            <a:off x="6035040" y="2468880"/>
            <a:ext cx="868680" cy="8686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Avatar icon 3" descr="Team memb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97480"/>
            <a:ext cx="411480" cy="411480"/>
          </a:xfrm>
          <a:prstGeom prst="rect">
            <a:avLst/>
          </a:prstGeom>
        </p:spPr>
      </p:pic>
      <p:sp>
        <p:nvSpPr>
          <p:cNvPr id="14" name="Member name 3"/>
          <p:cNvSpPr txBox="1"/>
          <p:nvPr/>
        </p:nvSpPr>
        <p:spPr>
          <a:xfrm>
            <a:off x="5715000" y="35204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DHATCHAYANI S</a:t>
            </a:r>
            <a:endParaRPr lang="en-US" sz="1600" dirty="0"/>
          </a:p>
        </p:txBody>
      </p:sp>
      <p:sp>
        <p:nvSpPr>
          <p:cNvPr id="15" name="Member card 4"/>
          <p:cNvSpPr/>
          <p:nvPr/>
        </p:nvSpPr>
        <p:spPr>
          <a:xfrm>
            <a:off x="7498080" y="2240280"/>
            <a:ext cx="1812176" cy="2148840"/>
          </a:xfrm>
          <a:prstGeom prst="roundRect">
            <a:avLst>
              <a:gd name="adj" fmla="val 648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Avatar circle 4"/>
          <p:cNvSpPr/>
          <p:nvPr/>
        </p:nvSpPr>
        <p:spPr>
          <a:xfrm>
            <a:off x="7909560" y="2468880"/>
            <a:ext cx="868680" cy="8686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Avatar icon 4" descr="Team memb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697480"/>
            <a:ext cx="411480" cy="411480"/>
          </a:xfrm>
          <a:prstGeom prst="rect">
            <a:avLst/>
          </a:prstGeom>
        </p:spPr>
      </p:pic>
      <p:sp>
        <p:nvSpPr>
          <p:cNvPr id="18" name="Member name 4"/>
          <p:cNvSpPr txBox="1"/>
          <p:nvPr/>
        </p:nvSpPr>
        <p:spPr>
          <a:xfrm>
            <a:off x="7589520" y="35204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 BHAGYALAKSHMI</a:t>
            </a:r>
            <a:endParaRPr lang="en-US" sz="1600" dirty="0"/>
          </a:p>
        </p:txBody>
      </p:sp>
      <p:sp>
        <p:nvSpPr>
          <p:cNvPr id="19" name="College line"/>
          <p:cNvSpPr txBox="1"/>
          <p:nvPr/>
        </p:nvSpPr>
        <p:spPr>
          <a:xfrm>
            <a:off x="187452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College : GRT Institute of Engineering and Technology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Problem statement and use case</a:t>
            </a:r>
            <a:endParaRPr lang="en-US" sz="3400" dirty="0"/>
          </a:p>
        </p:txBody>
      </p:sp>
      <p:sp>
        <p:nvSpPr>
          <p:cNvPr id="3" name="body_2"/>
          <p:cNvSpPr txBox="1"/>
          <p:nvPr/>
        </p:nvSpPr>
        <p:spPr>
          <a:xfrm>
            <a:off x="1874520" y="22860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</a:rPr>
              <a:t>Type 2 diabetes is very common in India, but doctors see patients only in short, infrequent visits.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</a:rPr>
              <a:t>Glucose spikes after meals happen between visits and go unnoticed.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1"/>
                </a:solidFill>
              </a:rPr>
              <a:t>Health records and wearable data sit in different places and are never combined.</a:t>
            </a:r>
            <a:endParaRPr lang="en-US" sz="1500" dirty="0"/>
          </a:p>
        </p:txBody>
      </p:sp>
      <p:sp>
        <p:nvSpPr>
          <p:cNvPr id="4" name="Use case card"/>
          <p:cNvSpPr/>
          <p:nvPr/>
        </p:nvSpPr>
        <p:spPr>
          <a:xfrm>
            <a:off x="6126480" y="2194560"/>
            <a:ext cx="4160520" cy="1463040"/>
          </a:xfrm>
          <a:prstGeom prst="roundRect">
            <a:avLst>
              <a:gd name="adj" fmla="val 7500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heading_3"/>
          <p:cNvSpPr txBox="1"/>
          <p:nvPr/>
        </p:nvSpPr>
        <p:spPr>
          <a:xfrm>
            <a:off x="6355080" y="2304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Our use case</a:t>
            </a:r>
            <a:endParaRPr lang="en-US" sz="1600" dirty="0"/>
          </a:p>
        </p:txBody>
      </p:sp>
      <p:sp>
        <p:nvSpPr>
          <p:cNvPr id="6" name="body_4"/>
          <p:cNvSpPr txBox="1"/>
          <p:nvPr/>
        </p:nvSpPr>
        <p:spPr>
          <a:xfrm>
            <a:off x="6355080" y="26974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Warn 2 hours ahead when glucose is likely to rise above 180 mg/dL, show why, and let the doctor test what-if changes.</a:t>
            </a:r>
            <a:endParaRPr lang="en-US" sz="1400" dirty="0"/>
          </a:p>
        </p:txBody>
      </p:sp>
      <p:sp>
        <p:nvSpPr>
          <p:cNvPr id="7" name="Decision card"/>
          <p:cNvSpPr/>
          <p:nvPr/>
        </p:nvSpPr>
        <p:spPr>
          <a:xfrm>
            <a:off x="6126480" y="3794760"/>
            <a:ext cx="4160520" cy="1280160"/>
          </a:xfrm>
          <a:prstGeom prst="roundRect">
            <a:avLst>
              <a:gd name="adj" fmla="val 8571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heading_5"/>
          <p:cNvSpPr txBox="1"/>
          <p:nvPr/>
        </p:nvSpPr>
        <p:spPr>
          <a:xfrm>
            <a:off x="6355080" y="39044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decision it supports</a:t>
            </a:r>
            <a:endParaRPr lang="en-US" sz="1600" dirty="0"/>
          </a:p>
        </p:txBody>
      </p:sp>
      <p:sp>
        <p:nvSpPr>
          <p:cNvPr id="9" name="body_6"/>
          <p:cNvSpPr txBox="1"/>
          <p:nvPr/>
        </p:nvSpPr>
        <p:spPr>
          <a:xfrm>
            <a:off x="6355080" y="42976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Which patient should I look at today, and should I review meals, sleep or activity?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Our solution: a virtual patient</a:t>
            </a:r>
            <a:endParaRPr lang="en-US" sz="3400" dirty="0"/>
          </a:p>
        </p:txBody>
      </p:sp>
      <p:sp>
        <p:nvSpPr>
          <p:cNvPr id="3" name="Solution card 1"/>
          <p:cNvSpPr/>
          <p:nvPr/>
        </p:nvSpPr>
        <p:spPr>
          <a:xfrm>
            <a:off x="1828800" y="2194560"/>
            <a:ext cx="2697480" cy="2880360"/>
          </a:xfrm>
          <a:prstGeom prst="roundRect">
            <a:avLst>
              <a:gd name="adj" fmla="val 4068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tep number 1"/>
          <p:cNvSpPr txBox="1"/>
          <p:nvPr/>
        </p:nvSpPr>
        <p:spPr>
          <a:xfrm>
            <a:off x="205740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01.</a:t>
            </a:r>
            <a:endParaRPr lang="en-US" sz="3000" dirty="0"/>
          </a:p>
        </p:txBody>
      </p:sp>
      <p:sp>
        <p:nvSpPr>
          <p:cNvPr id="5" name="heading_7"/>
          <p:cNvSpPr txBox="1"/>
          <p:nvPr/>
        </p:nvSpPr>
        <p:spPr>
          <a:xfrm>
            <a:off x="20574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Virtual patient</a:t>
            </a:r>
            <a:endParaRPr lang="en-US" sz="1800" dirty="0"/>
          </a:p>
        </p:txBody>
      </p:sp>
      <p:sp>
        <p:nvSpPr>
          <p:cNvPr id="6" name="body_8"/>
          <p:cNvSpPr txBox="1"/>
          <p:nvPr/>
        </p:nvSpPr>
        <p:spPr>
          <a:xfrm>
            <a:off x="2057400" y="3383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1"/>
                </a:solidFill>
              </a:rPr>
              <a:t>Keeps 24 hours of state.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1"/>
                </a:solidFill>
              </a:rPr>
              <a:t>Updates with every new 5-minute reading.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1"/>
                </a:solidFill>
              </a:rPr>
              <a:t>Cleans bad or missing input.</a:t>
            </a:r>
            <a:endParaRPr lang="en-US" sz="1500" dirty="0"/>
          </a:p>
        </p:txBody>
      </p:sp>
      <p:sp>
        <p:nvSpPr>
          <p:cNvPr id="7" name="Solution card 2"/>
          <p:cNvSpPr/>
          <p:nvPr/>
        </p:nvSpPr>
        <p:spPr>
          <a:xfrm>
            <a:off x="4800600" y="2194560"/>
            <a:ext cx="2697480" cy="2880360"/>
          </a:xfrm>
          <a:prstGeom prst="roundRect">
            <a:avLst>
              <a:gd name="adj" fmla="val 4068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tep number 2"/>
          <p:cNvSpPr txBox="1"/>
          <p:nvPr/>
        </p:nvSpPr>
        <p:spPr>
          <a:xfrm>
            <a:off x="502920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02.</a:t>
            </a:r>
            <a:endParaRPr lang="en-US" sz="3000" dirty="0"/>
          </a:p>
        </p:txBody>
      </p:sp>
      <p:sp>
        <p:nvSpPr>
          <p:cNvPr id="9" name="heading_9"/>
          <p:cNvSpPr txBox="1"/>
          <p:nvPr/>
        </p:nvSpPr>
        <p:spPr>
          <a:xfrm>
            <a:off x="50292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Fused prediction</a:t>
            </a:r>
            <a:endParaRPr lang="en-US" sz="1800" dirty="0"/>
          </a:p>
        </p:txBody>
      </p:sp>
      <p:sp>
        <p:nvSpPr>
          <p:cNvPr id="10" name="body_10"/>
          <p:cNvSpPr txBox="1"/>
          <p:nvPr/>
        </p:nvSpPr>
        <p:spPr>
          <a:xfrm>
            <a:off x="5029200" y="3383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1"/>
                </a:solidFill>
              </a:rPr>
              <a:t>Health record (old data) + wearable and glucose sensor (live data).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1"/>
                </a:solidFill>
              </a:rPr>
              <a:t>Output: spike risk and a 2-hour glucose curve.</a:t>
            </a:r>
            <a:endParaRPr lang="en-US" sz="1500" dirty="0"/>
          </a:p>
        </p:txBody>
      </p:sp>
      <p:sp>
        <p:nvSpPr>
          <p:cNvPr id="11" name="Solution card 3"/>
          <p:cNvSpPr/>
          <p:nvPr/>
        </p:nvSpPr>
        <p:spPr>
          <a:xfrm>
            <a:off x="7772400" y="2194560"/>
            <a:ext cx="2697480" cy="2880360"/>
          </a:xfrm>
          <a:prstGeom prst="roundRect">
            <a:avLst>
              <a:gd name="adj" fmla="val 4068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tep number 3"/>
          <p:cNvSpPr txBox="1"/>
          <p:nvPr/>
        </p:nvSpPr>
        <p:spPr>
          <a:xfrm>
            <a:off x="8001000" y="2286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03.</a:t>
            </a:r>
            <a:endParaRPr lang="en-US" sz="3000" dirty="0"/>
          </a:p>
        </p:txBody>
      </p:sp>
      <p:sp>
        <p:nvSpPr>
          <p:cNvPr id="13" name="heading_11"/>
          <p:cNvSpPr txBox="1"/>
          <p:nvPr/>
        </p:nvSpPr>
        <p:spPr>
          <a:xfrm>
            <a:off x="8001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Safe alerts</a:t>
            </a:r>
            <a:endParaRPr lang="en-US" sz="1800" dirty="0"/>
          </a:p>
        </p:txBody>
      </p:sp>
      <p:sp>
        <p:nvSpPr>
          <p:cNvPr id="14" name="body_12"/>
          <p:cNvSpPr txBox="1"/>
          <p:nvPr/>
        </p:nvSpPr>
        <p:spPr>
          <a:xfrm>
            <a:off x="8001000" y="3383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1"/>
                </a:solidFill>
              </a:rPr>
              <a:t>Alerts only when risk stays high and data is trustworthy.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1"/>
                </a:solidFill>
              </a:rPr>
              <a:t>Otherwise the twin says “cannot judge” instead of guessing.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Technology stack</a:t>
            </a:r>
            <a:endParaRPr lang="en-US" sz="3400" dirty="0"/>
          </a:p>
        </p:txBody>
      </p:sp>
      <p:graphicFrame>
        <p:nvGraphicFramePr>
          <p:cNvPr id="7" name="table_13"/>
          <p:cNvGraphicFramePr>
            <a:graphicFrameLocks noGrp="1"/>
          </p:cNvGraphicFramePr>
          <p:nvPr/>
        </p:nvGraphicFramePr>
        <p:xfrm>
          <a:off x="1783080" y="2057400"/>
          <a:ext cx="8138160" cy="305409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A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A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A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application and ML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cleaning, time-series processing, EHR/sensor 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Classification, preprocessing, model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and load trained model bundles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doctor-facing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 curves, forecast comparisons, explanation charts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EHR and sensor datasets for the prototype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utilities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security module, Streamlit session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integrity checks and demo access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and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code, documentation and submission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handling, predictions and Digital Twin 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note strip_14"/>
          <p:cNvSpPr/>
          <p:nvPr/>
        </p:nvSpPr>
        <p:spPr>
          <a:xfrm>
            <a:off x="1783080" y="5440680"/>
            <a:ext cx="81381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note text_15"/>
          <p:cNvSpPr txBox="1"/>
          <p:nvPr/>
        </p:nvSpPr>
        <p:spPr>
          <a:xfrm>
            <a:off x="1920240" y="54406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Security utilities are not, by themselves, evidence of full healthcare regulatory compliance.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2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Diagram frame"/>
          <p:cNvSpPr/>
          <p:nvPr/>
        </p:nvSpPr>
        <p:spPr>
          <a:xfrm>
            <a:off x="3409529" y="2148840"/>
            <a:ext cx="5255594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4DF93-8A65-BB52-0928-8DFF87BCB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529" y="1943100"/>
            <a:ext cx="570807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Data: two synthetic streams</a:t>
            </a:r>
            <a:endParaRPr lang="en-US" sz="3400" dirty="0"/>
          </a:p>
        </p:txBody>
      </p:sp>
      <p:sp>
        <p:nvSpPr>
          <p:cNvPr id="3" name="Static stream card"/>
          <p:cNvSpPr/>
          <p:nvPr/>
        </p:nvSpPr>
        <p:spPr>
          <a:xfrm>
            <a:off x="1063447" y="1942186"/>
            <a:ext cx="4948733" cy="3333902"/>
          </a:xfrm>
          <a:prstGeom prst="roundRect">
            <a:avLst>
              <a:gd name="adj" fmla="val 3291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Live stream card"/>
          <p:cNvSpPr/>
          <p:nvPr/>
        </p:nvSpPr>
        <p:spPr>
          <a:xfrm>
            <a:off x="6104534" y="1942186"/>
            <a:ext cx="4948733" cy="3333902"/>
          </a:xfrm>
          <a:prstGeom prst="roundRect">
            <a:avLst>
              <a:gd name="adj" fmla="val 3291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heading_13"/>
          <p:cNvSpPr txBox="1"/>
          <p:nvPr/>
        </p:nvSpPr>
        <p:spPr>
          <a:xfrm>
            <a:off x="146304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Static stream: health record</a:t>
            </a:r>
            <a:endParaRPr lang="en-US" sz="1600" dirty="0"/>
          </a:p>
        </p:txBody>
      </p:sp>
      <p:sp>
        <p:nvSpPr>
          <p:cNvPr id="6" name="body_14"/>
          <p:cNvSpPr txBox="1"/>
          <p:nvPr/>
        </p:nvSpPr>
        <p:spPr>
          <a:xfrm>
            <a:off x="1463040" y="27432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Age, sex, BMI, diagnosis, family history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HbA1c, fasting glucose, cholesterol, blood pressure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Medicine, BP and cholesterol history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Simulated genetic risk score and TCF7L2-style alleles</a:t>
            </a:r>
            <a:endParaRPr lang="en-US" sz="1600" dirty="0"/>
          </a:p>
        </p:txBody>
      </p:sp>
      <p:sp>
        <p:nvSpPr>
          <p:cNvPr id="7" name="heading_15"/>
          <p:cNvSpPr txBox="1"/>
          <p:nvPr/>
        </p:nvSpPr>
        <p:spPr>
          <a:xfrm>
            <a:off x="649224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Live stream: wearable and sensor</a:t>
            </a:r>
            <a:endParaRPr lang="en-US" sz="1600" dirty="0"/>
          </a:p>
        </p:txBody>
      </p:sp>
      <p:sp>
        <p:nvSpPr>
          <p:cNvPr id="8" name="body_16"/>
          <p:cNvSpPr txBox="1"/>
          <p:nvPr/>
        </p:nvSpPr>
        <p:spPr>
          <a:xfrm>
            <a:off x="6492240" y="27432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Glucose (CGM), heart rate, HRV, steps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Sleep stages and last night’s sleep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Meal log with Indian dishes (carbs, GI class)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Every 5 minutes; gaps and noise added</a:t>
            </a:r>
            <a:endParaRPr lang="en-US" sz="1600" dirty="0"/>
          </a:p>
        </p:txBody>
      </p:sp>
      <p:sp>
        <p:nvSpPr>
          <p:cNvPr id="9" name="Stats strip"/>
          <p:cNvSpPr/>
          <p:nvPr/>
        </p:nvSpPr>
        <p:spPr>
          <a:xfrm>
            <a:off x="1063447" y="5440680"/>
            <a:ext cx="99898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tats text"/>
          <p:cNvSpPr txBox="1"/>
          <p:nvPr/>
        </p:nvSpPr>
        <p:spPr>
          <a:xfrm>
            <a:off x="1280160" y="5440680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1,000 patients × 7 days × 288 readings a day  |  spike rate 10.5%  |  800 train, 200 unseen  |  every row tagged synthetic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AI/ML models and frameworks</a:t>
            </a:r>
            <a:endParaRPr lang="en-US" sz="3400" dirty="0"/>
          </a:p>
        </p:txBody>
      </p:sp>
      <p:graphicFrame>
        <p:nvGraphicFramePr>
          <p:cNvPr id="10" name="table_21"/>
          <p:cNvGraphicFramePr>
            <a:graphicFrameLocks noGrp="1"/>
          </p:cNvGraphicFramePr>
          <p:nvPr/>
        </p:nvGraphicFramePr>
        <p:xfrm>
          <a:off x="1783080" y="2103120"/>
          <a:ext cx="8686800" cy="3200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A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model or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A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A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Two-hour spike-risk 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or Random Forest classifier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 forecasting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baseline plus a regression model for future glucose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/ Scikit-learn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 and sensor 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Feature-level fusion of historical and recent sensor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/ Scikit-learn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explanations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Feature-group perturbation or ablation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/ Scikit-learn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Twin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 Python class updated by incoming readings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PR-AUC, precision, recall, false-alert rate and forecast 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6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/ NumPy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C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note strip_22"/>
          <p:cNvSpPr/>
          <p:nvPr/>
        </p:nvSpPr>
        <p:spPr>
          <a:xfrm>
            <a:off x="1783080" y="5440680"/>
            <a:ext cx="868680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note text_23"/>
          <p:cNvSpPr txBox="1"/>
          <p:nvPr/>
        </p:nvSpPr>
        <p:spPr>
          <a:xfrm>
            <a:off x="1920240" y="54406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Framework = the software used to build a model. Algorithm = the model itself.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93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Model and proof that fusion helps</a:t>
            </a:r>
            <a:endParaRPr lang="en-US" sz="3400" dirty="0"/>
          </a:p>
        </p:txBody>
      </p:sp>
      <p:graphicFrame>
        <p:nvGraphicFramePr>
          <p:cNvPr id="3" name="Chart 0" descr="Bar chart of PR-AUC: health record only 0.35, wearable plus meal log 0.59, fused 0.62, glucose stays same 0.35"/>
          <p:cNvGraphicFramePr/>
          <p:nvPr/>
        </p:nvGraphicFramePr>
        <p:xfrm>
          <a:off x="1783080" y="2103120"/>
          <a:ext cx="41605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body_17"/>
          <p:cNvSpPr txBox="1"/>
          <p:nvPr/>
        </p:nvSpPr>
        <p:spPr>
          <a:xfrm>
            <a:off x="6172200" y="22402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Gradient boosting, trained on messy data (gaps, incomplete records).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Features use only past readings; a test proves no future leakage.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Tested on unseen patients; alert level chosen on separate patients.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Removing the health record lowers accuracy: both streams matter.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The twin and its alert rule</a:t>
            </a:r>
            <a:endParaRPr lang="en-US" sz="3400" dirty="0"/>
          </a:p>
        </p:txBody>
      </p:sp>
      <p:sp>
        <p:nvSpPr>
          <p:cNvPr id="3" name="body_18"/>
          <p:cNvSpPr txBox="1"/>
          <p:nvPr/>
        </p:nvSpPr>
        <p:spPr>
          <a:xfrm>
            <a:off x="1874520" y="22860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Keeps 24 h of memory and updates per reading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Rejects absurd values (glucose 8 or 650) and bad timestamps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Handles late, duplicate and missing readings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Explains risk by hiding one input group at a time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What-if runs on a copy, never on the real twin</a:t>
            </a:r>
            <a:endParaRPr lang="en-US" sz="1400" dirty="0"/>
          </a:p>
        </p:txBody>
      </p:sp>
      <p:sp>
        <p:nvSpPr>
          <p:cNvPr id="4" name="heading_19"/>
          <p:cNvSpPr txBox="1"/>
          <p:nvPr/>
        </p:nvSpPr>
        <p:spPr>
          <a:xfrm>
            <a:off x="59436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 alert fires only if ALL hold</a:t>
            </a:r>
            <a:endParaRPr lang="en-US" sz="1600" dirty="0"/>
          </a:p>
        </p:txBody>
      </p:sp>
      <p:sp>
        <p:nvSpPr>
          <p:cNvPr id="5" name="Rule row 1"/>
          <p:cNvSpPr/>
          <p:nvPr/>
        </p:nvSpPr>
        <p:spPr>
          <a:xfrm>
            <a:off x="5943600" y="2606040"/>
            <a:ext cx="3931920" cy="402336"/>
          </a:xfrm>
          <a:prstGeom prst="roundRect">
            <a:avLst>
              <a:gd name="adj" fmla="val 27273"/>
            </a:avLst>
          </a:prstGeom>
          <a:solidFill>
            <a:schemeClr val="bg1">
              <a:alpha val="6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ule badge 1"/>
          <p:cNvSpPr/>
          <p:nvPr/>
        </p:nvSpPr>
        <p:spPr>
          <a:xfrm>
            <a:off x="6035040" y="2660904"/>
            <a:ext cx="292608" cy="29260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ule number 1"/>
          <p:cNvSpPr txBox="1"/>
          <p:nvPr/>
        </p:nvSpPr>
        <p:spPr>
          <a:xfrm>
            <a:off x="6035040" y="2660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Rule text 1"/>
          <p:cNvSpPr txBox="1"/>
          <p:nvPr/>
        </p:nvSpPr>
        <p:spPr>
          <a:xfrm>
            <a:off x="6446520" y="26060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Risk at or above the alert level</a:t>
            </a:r>
            <a:endParaRPr lang="en-US" sz="1400" dirty="0"/>
          </a:p>
        </p:txBody>
      </p:sp>
      <p:sp>
        <p:nvSpPr>
          <p:cNvPr id="9" name="Rule row 2"/>
          <p:cNvSpPr/>
          <p:nvPr/>
        </p:nvSpPr>
        <p:spPr>
          <a:xfrm>
            <a:off x="5943600" y="3081528"/>
            <a:ext cx="3931920" cy="402336"/>
          </a:xfrm>
          <a:prstGeom prst="roundRect">
            <a:avLst>
              <a:gd name="adj" fmla="val 27273"/>
            </a:avLst>
          </a:prstGeom>
          <a:solidFill>
            <a:schemeClr val="bg1">
              <a:alpha val="6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ule badge 2"/>
          <p:cNvSpPr/>
          <p:nvPr/>
        </p:nvSpPr>
        <p:spPr>
          <a:xfrm>
            <a:off x="6035040" y="3136392"/>
            <a:ext cx="292608" cy="29260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ule number 2"/>
          <p:cNvSpPr txBox="1"/>
          <p:nvPr/>
        </p:nvSpPr>
        <p:spPr>
          <a:xfrm>
            <a:off x="603504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Rule text 2"/>
          <p:cNvSpPr txBox="1"/>
          <p:nvPr/>
        </p:nvSpPr>
        <p:spPr>
          <a:xfrm>
            <a:off x="6446520" y="30815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High for 3 readings in a row (15 min)</a:t>
            </a:r>
            <a:endParaRPr lang="en-US" sz="1400" dirty="0"/>
          </a:p>
        </p:txBody>
      </p:sp>
      <p:sp>
        <p:nvSpPr>
          <p:cNvPr id="13" name="Rule row 3"/>
          <p:cNvSpPr/>
          <p:nvPr/>
        </p:nvSpPr>
        <p:spPr>
          <a:xfrm>
            <a:off x="5943600" y="3557016"/>
            <a:ext cx="3931920" cy="402336"/>
          </a:xfrm>
          <a:prstGeom prst="roundRect">
            <a:avLst>
              <a:gd name="adj" fmla="val 27273"/>
            </a:avLst>
          </a:prstGeom>
          <a:solidFill>
            <a:schemeClr val="bg1">
              <a:alpha val="6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ule badge 3"/>
          <p:cNvSpPr/>
          <p:nvPr/>
        </p:nvSpPr>
        <p:spPr>
          <a:xfrm>
            <a:off x="6035040" y="3611880"/>
            <a:ext cx="292608" cy="29260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ule number 3"/>
          <p:cNvSpPr txBox="1"/>
          <p:nvPr/>
        </p:nvSpPr>
        <p:spPr>
          <a:xfrm>
            <a:off x="603504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Rule text 3"/>
          <p:cNvSpPr txBox="1"/>
          <p:nvPr/>
        </p:nvSpPr>
        <p:spPr>
          <a:xfrm>
            <a:off x="6446520" y="355701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Glucose not already above 180</a:t>
            </a:r>
            <a:endParaRPr lang="en-US" sz="1400" dirty="0"/>
          </a:p>
        </p:txBody>
      </p:sp>
      <p:sp>
        <p:nvSpPr>
          <p:cNvPr id="17" name="Rule row 4"/>
          <p:cNvSpPr/>
          <p:nvPr/>
        </p:nvSpPr>
        <p:spPr>
          <a:xfrm>
            <a:off x="5943600" y="4032504"/>
            <a:ext cx="3931920" cy="402336"/>
          </a:xfrm>
          <a:prstGeom prst="roundRect">
            <a:avLst>
              <a:gd name="adj" fmla="val 27273"/>
            </a:avLst>
          </a:prstGeom>
          <a:solidFill>
            <a:schemeClr val="bg1">
              <a:alpha val="6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ule badge 4"/>
          <p:cNvSpPr/>
          <p:nvPr/>
        </p:nvSpPr>
        <p:spPr>
          <a:xfrm>
            <a:off x="6035040" y="4087368"/>
            <a:ext cx="292608" cy="29260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ule number 4"/>
          <p:cNvSpPr txBox="1"/>
          <p:nvPr/>
        </p:nvSpPr>
        <p:spPr>
          <a:xfrm>
            <a:off x="60350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Rule text 4"/>
          <p:cNvSpPr txBox="1"/>
          <p:nvPr/>
        </p:nvSpPr>
        <p:spPr>
          <a:xfrm>
            <a:off x="6446520" y="40325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Data is trustworthy</a:t>
            </a:r>
            <a:endParaRPr lang="en-US" sz="1400" dirty="0"/>
          </a:p>
        </p:txBody>
      </p:sp>
      <p:sp>
        <p:nvSpPr>
          <p:cNvPr id="21" name="Rule row 5"/>
          <p:cNvSpPr/>
          <p:nvPr/>
        </p:nvSpPr>
        <p:spPr>
          <a:xfrm>
            <a:off x="5943600" y="4507992"/>
            <a:ext cx="3931920" cy="402336"/>
          </a:xfrm>
          <a:prstGeom prst="roundRect">
            <a:avLst>
              <a:gd name="adj" fmla="val 27273"/>
            </a:avLst>
          </a:prstGeom>
          <a:solidFill>
            <a:schemeClr val="bg1">
              <a:alpha val="60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ule badge 5"/>
          <p:cNvSpPr/>
          <p:nvPr/>
        </p:nvSpPr>
        <p:spPr>
          <a:xfrm>
            <a:off x="6035040" y="4562856"/>
            <a:ext cx="292608" cy="29260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ule number 5"/>
          <p:cNvSpPr txBox="1"/>
          <p:nvPr/>
        </p:nvSpPr>
        <p:spPr>
          <a:xfrm>
            <a:off x="6035040" y="4562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Rule text 5"/>
          <p:cNvSpPr txBox="1"/>
          <p:nvPr/>
        </p:nvSpPr>
        <p:spPr>
          <a:xfrm>
            <a:off x="6446520" y="450799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No alert in the last 60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Doctor dashboard</a:t>
            </a:r>
            <a:endParaRPr lang="en-US" sz="3400" dirty="0"/>
          </a:p>
        </p:txBody>
      </p:sp>
      <p:sp>
        <p:nvSpPr>
          <p:cNvPr id="3" name="Dashboard card 1"/>
          <p:cNvSpPr/>
          <p:nvPr/>
        </p:nvSpPr>
        <p:spPr>
          <a:xfrm>
            <a:off x="1828800" y="2176272"/>
            <a:ext cx="406908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heading_20"/>
          <p:cNvSpPr txBox="1"/>
          <p:nvPr/>
        </p:nvSpPr>
        <p:spPr>
          <a:xfrm>
            <a:off x="20574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Risk and 2-hour curve</a:t>
            </a:r>
            <a:endParaRPr lang="en-US" sz="1600" dirty="0"/>
          </a:p>
        </p:txBody>
      </p:sp>
      <p:sp>
        <p:nvSpPr>
          <p:cNvPr id="5" name="body_21"/>
          <p:cNvSpPr txBox="1"/>
          <p:nvPr/>
        </p:nvSpPr>
        <p:spPr>
          <a:xfrm>
            <a:off x="2057400" y="26791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Live glucose, forecast, danger line at 180, and a clear High / Moderate / Low badge.</a:t>
            </a:r>
            <a:endParaRPr lang="en-US" sz="1400" dirty="0"/>
          </a:p>
        </p:txBody>
      </p:sp>
      <p:sp>
        <p:nvSpPr>
          <p:cNvPr id="6" name="Dashboard card 2"/>
          <p:cNvSpPr/>
          <p:nvPr/>
        </p:nvSpPr>
        <p:spPr>
          <a:xfrm>
            <a:off x="6172200" y="2176272"/>
            <a:ext cx="406908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heading_22"/>
          <p:cNvSpPr txBox="1"/>
          <p:nvPr/>
        </p:nvSpPr>
        <p:spPr>
          <a:xfrm>
            <a:off x="64008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Reasons</a:t>
            </a:r>
            <a:endParaRPr lang="en-US" sz="1600" dirty="0"/>
          </a:p>
        </p:txBody>
      </p:sp>
      <p:sp>
        <p:nvSpPr>
          <p:cNvPr id="8" name="body_23"/>
          <p:cNvSpPr txBox="1"/>
          <p:nvPr/>
        </p:nvSpPr>
        <p:spPr>
          <a:xfrm>
            <a:off x="6400800" y="26791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Which inputs raise or lower the risk: glucose trend, last meal, steps, sleep, health record.</a:t>
            </a:r>
            <a:endParaRPr lang="en-US" sz="1400" dirty="0"/>
          </a:p>
        </p:txBody>
      </p:sp>
      <p:sp>
        <p:nvSpPr>
          <p:cNvPr id="9" name="Dashboard card 3"/>
          <p:cNvSpPr/>
          <p:nvPr/>
        </p:nvSpPr>
        <p:spPr>
          <a:xfrm>
            <a:off x="1828800" y="3685032"/>
            <a:ext cx="406908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heading_24"/>
          <p:cNvSpPr txBox="1"/>
          <p:nvPr/>
        </p:nvSpPr>
        <p:spPr>
          <a:xfrm>
            <a:off x="20574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What-if lab</a:t>
            </a:r>
            <a:endParaRPr lang="en-US" sz="1600" dirty="0"/>
          </a:p>
        </p:txBody>
      </p:sp>
      <p:sp>
        <p:nvSpPr>
          <p:cNvPr id="11" name="body_25"/>
          <p:cNvSpPr txBox="1"/>
          <p:nvPr/>
        </p:nvSpPr>
        <p:spPr>
          <a:xfrm>
            <a:off x="2057400" y="418795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Try more sleep, a short walk or a lighter meal. Shows how the model reacts, not proof of treatment.</a:t>
            </a:r>
            <a:endParaRPr lang="en-US" sz="1400" dirty="0"/>
          </a:p>
        </p:txBody>
      </p:sp>
      <p:sp>
        <p:nvSpPr>
          <p:cNvPr id="12" name="Dashboard card 4"/>
          <p:cNvSpPr/>
          <p:nvPr/>
        </p:nvSpPr>
        <p:spPr>
          <a:xfrm>
            <a:off x="6172200" y="3685032"/>
            <a:ext cx="406908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heading_26"/>
          <p:cNvSpPr txBox="1"/>
          <p:nvPr/>
        </p:nvSpPr>
        <p:spPr>
          <a:xfrm>
            <a:off x="64008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Problem simulator</a:t>
            </a:r>
            <a:endParaRPr lang="en-US" sz="1600" dirty="0"/>
          </a:p>
        </p:txBody>
      </p:sp>
      <p:sp>
        <p:nvSpPr>
          <p:cNvPr id="14" name="body_27"/>
          <p:cNvSpPr txBox="1"/>
          <p:nvPr/>
        </p:nvSpPr>
        <p:spPr>
          <a:xfrm>
            <a:off x="6400800" y="418795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Break sensors or hide parts of the record live. Alert-style slider trades false alarms for missed spikes.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What if the data is messy?</a:t>
            </a:r>
            <a:endParaRPr lang="en-US" sz="3400" dirty="0"/>
          </a:p>
        </p:txBody>
      </p:sp>
      <p:graphicFrame>
        <p:nvGraphicFramePr>
          <p:cNvPr id="3" name="Chart 0" descr="Horizontal bar chart of percent of spikes caught per data scenario, from 70 percent with the watch off down to 3 percent with 50 percent glucose missing"/>
          <p:cNvGraphicFramePr/>
          <p:nvPr/>
        </p:nvGraphicFramePr>
        <p:xfrm>
          <a:off x="1783080" y="210312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body_28"/>
          <p:cNvSpPr txBox="1"/>
          <p:nvPr/>
        </p:nvSpPr>
        <p:spPr>
          <a:xfrm>
            <a:off x="7132320" y="224028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With much missing glucose the twin says “cannot judge” (60% of the time at 30% missing, 94% at 50%) instead of guessing.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No lab results: warning time falls from 35 to 20 minutes.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23 scenarios and 19 patient groups tested; 43 automatic tests pass.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Results at the low-false-alarm setting</a:t>
            </a:r>
            <a:endParaRPr lang="en-US" sz="3400" dirty="0"/>
          </a:p>
        </p:txBody>
      </p:sp>
      <p:sp>
        <p:nvSpPr>
          <p:cNvPr id="3" name="KPI tile 1"/>
          <p:cNvSpPr/>
          <p:nvPr/>
        </p:nvSpPr>
        <p:spPr>
          <a:xfrm>
            <a:off x="1828800" y="2148840"/>
            <a:ext cx="192024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KPI value 1"/>
          <p:cNvSpPr txBox="1"/>
          <p:nvPr/>
        </p:nvSpPr>
        <p:spPr>
          <a:xfrm>
            <a:off x="1920240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190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69%</a:t>
            </a:r>
            <a:endParaRPr lang="en-US" sz="3400" dirty="0"/>
          </a:p>
        </p:txBody>
      </p:sp>
      <p:sp>
        <p:nvSpPr>
          <p:cNvPr id="5" name="KPI label 1"/>
          <p:cNvSpPr txBox="1"/>
          <p:nvPr/>
        </p:nvSpPr>
        <p:spPr>
          <a:xfrm>
            <a:off x="1965960" y="2852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of spikes caught</a:t>
            </a:r>
            <a:endParaRPr lang="en-US" sz="1400" dirty="0"/>
          </a:p>
        </p:txBody>
      </p:sp>
      <p:sp>
        <p:nvSpPr>
          <p:cNvPr id="6" name="KPI tile 2"/>
          <p:cNvSpPr/>
          <p:nvPr/>
        </p:nvSpPr>
        <p:spPr>
          <a:xfrm>
            <a:off x="4050792" y="2148840"/>
            <a:ext cx="192024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KPI value 2"/>
          <p:cNvSpPr txBox="1"/>
          <p:nvPr/>
        </p:nvSpPr>
        <p:spPr>
          <a:xfrm>
            <a:off x="4142232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190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65%</a:t>
            </a:r>
            <a:endParaRPr lang="en-US" sz="3400" dirty="0"/>
          </a:p>
        </p:txBody>
      </p:sp>
      <p:sp>
        <p:nvSpPr>
          <p:cNvPr id="8" name="KPI label 2"/>
          <p:cNvSpPr txBox="1"/>
          <p:nvPr/>
        </p:nvSpPr>
        <p:spPr>
          <a:xfrm>
            <a:off x="4187952" y="2852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of alerts were right</a:t>
            </a:r>
            <a:endParaRPr lang="en-US" sz="1400" dirty="0"/>
          </a:p>
        </p:txBody>
      </p:sp>
      <p:sp>
        <p:nvSpPr>
          <p:cNvPr id="9" name="KPI tile 3"/>
          <p:cNvSpPr/>
          <p:nvPr/>
        </p:nvSpPr>
        <p:spPr>
          <a:xfrm>
            <a:off x="6272784" y="2148840"/>
            <a:ext cx="192024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KPI value 3"/>
          <p:cNvSpPr txBox="1"/>
          <p:nvPr/>
        </p:nvSpPr>
        <p:spPr>
          <a:xfrm>
            <a:off x="6364224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190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0.69</a:t>
            </a:r>
            <a:endParaRPr lang="en-US" sz="3400" dirty="0"/>
          </a:p>
        </p:txBody>
      </p:sp>
      <p:sp>
        <p:nvSpPr>
          <p:cNvPr id="11" name="KPI label 3"/>
          <p:cNvSpPr txBox="1"/>
          <p:nvPr/>
        </p:nvSpPr>
        <p:spPr>
          <a:xfrm>
            <a:off x="6409944" y="2852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false alerts per patient-day</a:t>
            </a:r>
            <a:endParaRPr lang="en-US" sz="1400" dirty="0"/>
          </a:p>
        </p:txBody>
      </p:sp>
      <p:sp>
        <p:nvSpPr>
          <p:cNvPr id="12" name="KPI tile 4"/>
          <p:cNvSpPr/>
          <p:nvPr/>
        </p:nvSpPr>
        <p:spPr>
          <a:xfrm>
            <a:off x="8494776" y="2148840"/>
            <a:ext cx="192024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KPI value 4"/>
          <p:cNvSpPr txBox="1"/>
          <p:nvPr/>
        </p:nvSpPr>
        <p:spPr>
          <a:xfrm>
            <a:off x="8586216" y="22128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ln w="190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 min</a:t>
            </a:r>
            <a:endParaRPr lang="en-US" sz="3000" dirty="0"/>
          </a:p>
        </p:txBody>
      </p:sp>
      <p:sp>
        <p:nvSpPr>
          <p:cNvPr id="14" name="KPI label 4"/>
          <p:cNvSpPr txBox="1"/>
          <p:nvPr/>
        </p:nvSpPr>
        <p:spPr>
          <a:xfrm>
            <a:off x="8631936" y="2852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</a:rPr>
              <a:t>median warning time</a:t>
            </a:r>
            <a:endParaRPr lang="en-US" sz="1400" dirty="0"/>
          </a:p>
        </p:txBody>
      </p:sp>
      <p:sp>
        <p:nvSpPr>
          <p:cNvPr id="15" name="body_29"/>
          <p:cNvSpPr txBox="1"/>
          <p:nvPr/>
        </p:nvSpPr>
        <p:spPr>
          <a:xfrm>
            <a:off x="1828800" y="365760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100 unseen synthetic patients, clean data. No setting gives zero false alarms and every spike: fewer false alarms means more missed spikes.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On separate validation patients the same level gave 0.40 false alerts a day, so results vary with the patient sample.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The doctor chooses: Low false alarms, Balanced, or Catch more spikes.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Security and privacy by design</a:t>
            </a:r>
            <a:endParaRPr lang="en-US" sz="3400" dirty="0"/>
          </a:p>
        </p:txBody>
      </p:sp>
      <p:sp>
        <p:nvSpPr>
          <p:cNvPr id="3" name="Security card 1"/>
          <p:cNvSpPr/>
          <p:nvPr/>
        </p:nvSpPr>
        <p:spPr>
          <a:xfrm>
            <a:off x="1828800" y="2176272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heading_30"/>
          <p:cNvSpPr txBox="1"/>
          <p:nvPr/>
        </p:nvSpPr>
        <p:spPr>
          <a:xfrm>
            <a:off x="20116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Synthetic data only</a:t>
            </a:r>
            <a:endParaRPr lang="en-US" sz="1500" dirty="0"/>
          </a:p>
        </p:txBody>
      </p:sp>
      <p:sp>
        <p:nvSpPr>
          <p:cNvPr id="5" name="body_31"/>
          <p:cNvSpPr txBox="1"/>
          <p:nvPr/>
        </p:nvSpPr>
        <p:spPr>
          <a:xfrm>
            <a:off x="2011680" y="27066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Loaders refuse anything not tagged synthetic.</a:t>
            </a:r>
            <a:endParaRPr lang="en-US" sz="1400" dirty="0"/>
          </a:p>
        </p:txBody>
      </p:sp>
      <p:sp>
        <p:nvSpPr>
          <p:cNvPr id="6" name="Security card 2"/>
          <p:cNvSpPr/>
          <p:nvPr/>
        </p:nvSpPr>
        <p:spPr>
          <a:xfrm>
            <a:off x="4617720" y="2176272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heading_32"/>
          <p:cNvSpPr txBox="1"/>
          <p:nvPr/>
        </p:nvSpPr>
        <p:spPr>
          <a:xfrm>
            <a:off x="48006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Hash-checked files</a:t>
            </a:r>
            <a:endParaRPr lang="en-US" sz="1500" dirty="0"/>
          </a:p>
        </p:txBody>
      </p:sp>
      <p:sp>
        <p:nvSpPr>
          <p:cNvPr id="8" name="body_33"/>
          <p:cNvSpPr txBox="1"/>
          <p:nvPr/>
        </p:nvSpPr>
        <p:spPr>
          <a:xfrm>
            <a:off x="4800600" y="27066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A swapped model or data file is refused.</a:t>
            </a:r>
            <a:endParaRPr lang="en-US" sz="1400" dirty="0"/>
          </a:p>
        </p:txBody>
      </p:sp>
      <p:sp>
        <p:nvSpPr>
          <p:cNvPr id="9" name="Security card 3"/>
          <p:cNvSpPr/>
          <p:nvPr/>
        </p:nvSpPr>
        <p:spPr>
          <a:xfrm>
            <a:off x="7406640" y="2176272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heading_34"/>
          <p:cNvSpPr txBox="1"/>
          <p:nvPr/>
        </p:nvSpPr>
        <p:spPr>
          <a:xfrm>
            <a:off x="75895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Input cleaning</a:t>
            </a:r>
            <a:endParaRPr lang="en-US" sz="1500" dirty="0"/>
          </a:p>
        </p:txBody>
      </p:sp>
      <p:sp>
        <p:nvSpPr>
          <p:cNvPr id="11" name="body_35"/>
          <p:cNvSpPr txBox="1"/>
          <p:nvPr/>
        </p:nvSpPr>
        <p:spPr>
          <a:xfrm>
            <a:off x="7589520" y="270662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Every reading and record is type- and range-checked.</a:t>
            </a:r>
            <a:endParaRPr lang="en-US" sz="1400" dirty="0"/>
          </a:p>
        </p:txBody>
      </p:sp>
      <p:sp>
        <p:nvSpPr>
          <p:cNvPr id="12" name="Security card 4"/>
          <p:cNvSpPr/>
          <p:nvPr/>
        </p:nvSpPr>
        <p:spPr>
          <a:xfrm>
            <a:off x="1828800" y="3685032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heading_36"/>
          <p:cNvSpPr txBox="1"/>
          <p:nvPr/>
        </p:nvSpPr>
        <p:spPr>
          <a:xfrm>
            <a:off x="201168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Private dashboard</a:t>
            </a:r>
            <a:endParaRPr lang="en-US" sz="1500" dirty="0"/>
          </a:p>
        </p:txBody>
      </p:sp>
      <p:sp>
        <p:nvSpPr>
          <p:cNvPr id="14" name="body_37"/>
          <p:cNvSpPr txBox="1"/>
          <p:nvPr/>
        </p:nvSpPr>
        <p:spPr>
          <a:xfrm>
            <a:off x="2011680" y="42153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Local only, optional password, XSRF on, no tracking.</a:t>
            </a:r>
            <a:endParaRPr lang="en-US" sz="1400" dirty="0"/>
          </a:p>
        </p:txBody>
      </p:sp>
      <p:sp>
        <p:nvSpPr>
          <p:cNvPr id="15" name="Security card 5"/>
          <p:cNvSpPr/>
          <p:nvPr/>
        </p:nvSpPr>
        <p:spPr>
          <a:xfrm>
            <a:off x="4617720" y="3685032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heading_38"/>
          <p:cNvSpPr txBox="1"/>
          <p:nvPr/>
        </p:nvSpPr>
        <p:spPr>
          <a:xfrm>
            <a:off x="480060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Pinned, scanned libraries</a:t>
            </a:r>
            <a:endParaRPr lang="en-US" sz="1500" dirty="0"/>
          </a:p>
        </p:txBody>
      </p:sp>
      <p:sp>
        <p:nvSpPr>
          <p:cNvPr id="17" name="body_39"/>
          <p:cNvSpPr txBox="1"/>
          <p:nvPr/>
        </p:nvSpPr>
        <p:spPr>
          <a:xfrm>
            <a:off x="4800600" y="42153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pip-audit clean; bandit no medium or high issues.</a:t>
            </a:r>
            <a:endParaRPr lang="en-US" sz="1400" dirty="0"/>
          </a:p>
        </p:txBody>
      </p:sp>
      <p:sp>
        <p:nvSpPr>
          <p:cNvPr id="18" name="Security card 6"/>
          <p:cNvSpPr/>
          <p:nvPr/>
        </p:nvSpPr>
        <p:spPr>
          <a:xfrm>
            <a:off x="7406640" y="3685032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heading_40"/>
          <p:cNvSpPr txBox="1"/>
          <p:nvPr/>
        </p:nvSpPr>
        <p:spPr>
          <a:xfrm>
            <a:off x="758952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Honest limits</a:t>
            </a:r>
            <a:endParaRPr lang="en-US" sz="1500" dirty="0"/>
          </a:p>
        </p:txBody>
      </p:sp>
      <p:sp>
        <p:nvSpPr>
          <p:cNvPr id="20" name="body_41"/>
          <p:cNvSpPr txBox="1"/>
          <p:nvPr/>
        </p:nvSpPr>
        <p:spPr>
          <a:xfrm>
            <a:off x="7589520" y="42153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No software promises zero breaches. See SECURITY.md.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Limits and real-data plan</a:t>
            </a:r>
            <a:endParaRPr lang="en-US" sz="3400" dirty="0"/>
          </a:p>
        </p:txBody>
      </p:sp>
      <p:sp>
        <p:nvSpPr>
          <p:cNvPr id="3" name="Limits card"/>
          <p:cNvSpPr/>
          <p:nvPr/>
        </p:nvSpPr>
        <p:spPr>
          <a:xfrm>
            <a:off x="1063447" y="1942186"/>
            <a:ext cx="4948733" cy="3333902"/>
          </a:xfrm>
          <a:prstGeom prst="roundRect">
            <a:avLst>
              <a:gd name="adj" fmla="val 3291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al-data card"/>
          <p:cNvSpPr/>
          <p:nvPr/>
        </p:nvSpPr>
        <p:spPr>
          <a:xfrm>
            <a:off x="6104534" y="1942186"/>
            <a:ext cx="4948733" cy="3333902"/>
          </a:xfrm>
          <a:prstGeom prst="roundRect">
            <a:avLst>
              <a:gd name="adj" fmla="val 3291"/>
            </a:avLst>
          </a:prstGeom>
          <a:solidFill>
            <a:schemeClr val="bg1">
              <a:alpha val="55000"/>
            </a:schemeClr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heading_42"/>
          <p:cNvSpPr txBox="1"/>
          <p:nvPr/>
        </p:nvSpPr>
        <p:spPr>
          <a:xfrm>
            <a:off x="146304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Limits and weak spots</a:t>
            </a:r>
            <a:endParaRPr lang="en-US" sz="1600" dirty="0"/>
          </a:p>
        </p:txBody>
      </p:sp>
      <p:sp>
        <p:nvSpPr>
          <p:cNvPr id="6" name="body_43"/>
          <p:cNvSpPr txBox="1"/>
          <p:nvPr/>
        </p:nvSpPr>
        <p:spPr>
          <a:xfrm>
            <a:off x="1463040" y="269748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All data is simulated by rules we wrote: scores show the pipeline works, not clinical accuracy.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Prediabetes: only 50% of spikes caught.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Sensor reading 20 mg/dL too high: score falls from 0.64 to 0.43.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Not simulated: kidney disease, insulin use, pregnancy.</a:t>
            </a:r>
            <a:endParaRPr lang="en-US" sz="1400" dirty="0"/>
          </a:p>
        </p:txBody>
      </p:sp>
      <p:sp>
        <p:nvSpPr>
          <p:cNvPr id="7" name="heading_44"/>
          <p:cNvSpPr txBox="1"/>
          <p:nvPr/>
        </p:nvSpPr>
        <p:spPr>
          <a:xfrm>
            <a:off x="649224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Real-data test (ShanghaiT2DM)</a:t>
            </a:r>
            <a:endParaRPr lang="en-US" sz="1600" dirty="0"/>
          </a:p>
        </p:txBody>
      </p:sp>
      <p:sp>
        <p:nvSpPr>
          <p:cNvPr id="8" name="body_45"/>
          <p:cNvSpPr txBox="1"/>
          <p:nvPr/>
        </p:nvSpPr>
        <p:spPr>
          <a:xfrm>
            <a:off x="6492240" y="269748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109 recordings, 112,462 readings. Chinese patients, many on insulin (not simulated).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PR-AUC: twin 0.35, glucose stays same 0.33, straight-line trend 0.41, chance 0.15.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Honest finding: </a:t>
            </a:r>
            <a:r>
              <a:rPr lang="en-US" sz="1400" dirty="0">
                <a:solidFill>
                  <a:schemeClr val="accent1"/>
                </a:solidFill>
              </a:rPr>
              <a:t>the twin does NOT beat a simple trend rule on real data.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Next: tune on real patients, fairly split.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ln w="25400">
                  <a:solidFill>
                    <a:srgbClr val="FFFFFF"/>
                  </a:solidFill>
                </a:ln>
                <a:solidFill>
                  <a:schemeClr val="accent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Point number 1"/>
          <p:cNvSpPr txBox="1"/>
          <p:nvPr/>
        </p:nvSpPr>
        <p:spPr>
          <a:xfrm>
            <a:off x="1874520" y="2148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n w="190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01.</a:t>
            </a:r>
            <a:endParaRPr lang="en-US" sz="2400" dirty="0"/>
          </a:p>
        </p:txBody>
      </p:sp>
      <p:sp>
        <p:nvSpPr>
          <p:cNvPr id="4" name="Point text 1"/>
          <p:cNvSpPr txBox="1"/>
          <p:nvPr/>
        </p:nvSpPr>
        <p:spPr>
          <a:xfrm>
            <a:off x="2743200" y="21488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A working digital twin that fuses a health record with live sensor data and warns 2 hours ahead.</a:t>
            </a:r>
            <a:endParaRPr lang="en-US" sz="1400" dirty="0"/>
          </a:p>
        </p:txBody>
      </p:sp>
      <p:sp>
        <p:nvSpPr>
          <p:cNvPr id="5" name="Point number 2"/>
          <p:cNvSpPr txBox="1"/>
          <p:nvPr/>
        </p:nvSpPr>
        <p:spPr>
          <a:xfrm>
            <a:off x="1874520" y="27523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n w="190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02.</a:t>
            </a:r>
            <a:endParaRPr lang="en-US" sz="2400" dirty="0"/>
          </a:p>
        </p:txBody>
      </p:sp>
      <p:sp>
        <p:nvSpPr>
          <p:cNvPr id="6" name="Point text 2"/>
          <p:cNvSpPr txBox="1"/>
          <p:nvPr/>
        </p:nvSpPr>
        <p:spPr>
          <a:xfrm>
            <a:off x="2743200" y="275234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Built to cope with missing data and to say “cannot judge” instead of guessing.</a:t>
            </a:r>
            <a:endParaRPr lang="en-US" sz="1400" dirty="0"/>
          </a:p>
        </p:txBody>
      </p:sp>
      <p:sp>
        <p:nvSpPr>
          <p:cNvPr id="7" name="Point number 3"/>
          <p:cNvSpPr txBox="1"/>
          <p:nvPr/>
        </p:nvSpPr>
        <p:spPr>
          <a:xfrm>
            <a:off x="1874520" y="33558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n w="190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03.</a:t>
            </a:r>
            <a:endParaRPr lang="en-US" sz="2400" dirty="0"/>
          </a:p>
        </p:txBody>
      </p:sp>
      <p:sp>
        <p:nvSpPr>
          <p:cNvPr id="8" name="Point text 3"/>
          <p:cNvSpPr txBox="1"/>
          <p:nvPr/>
        </p:nvSpPr>
        <p:spPr>
          <a:xfrm>
            <a:off x="2743200" y="3355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Honest results: false alarms and weak spots are measured and shown.</a:t>
            </a:r>
            <a:endParaRPr lang="en-US" sz="1400" dirty="0"/>
          </a:p>
        </p:txBody>
      </p:sp>
      <p:sp>
        <p:nvSpPr>
          <p:cNvPr id="9" name="Point number 4"/>
          <p:cNvSpPr txBox="1"/>
          <p:nvPr/>
        </p:nvSpPr>
        <p:spPr>
          <a:xfrm>
            <a:off x="1874520" y="39593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n w="190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04.</a:t>
            </a:r>
            <a:endParaRPr lang="en-US" sz="2400" dirty="0"/>
          </a:p>
        </p:txBody>
      </p:sp>
      <p:sp>
        <p:nvSpPr>
          <p:cNvPr id="10" name="Point text 4"/>
          <p:cNvSpPr txBox="1"/>
          <p:nvPr/>
        </p:nvSpPr>
        <p:spPr>
          <a:xfrm>
            <a:off x="2743200" y="39593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Next: test on real open data, extend to more conditions, validate with Indian cohorts and clinicians.</a:t>
            </a:r>
            <a:endParaRPr lang="en-US" sz="1400" dirty="0"/>
          </a:p>
        </p:txBody>
      </p:sp>
      <p:sp>
        <p:nvSpPr>
          <p:cNvPr id="11" name="Link pill"/>
          <p:cNvSpPr/>
          <p:nvPr/>
        </p:nvSpPr>
        <p:spPr>
          <a:xfrm>
            <a:off x="1874520" y="4645152"/>
            <a:ext cx="457200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Link text"/>
          <p:cNvSpPr txBox="1"/>
          <p:nvPr/>
        </p:nvSpPr>
        <p:spPr>
          <a:xfrm>
            <a:off x="2080953" y="4645152"/>
            <a:ext cx="41826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Link: https://github.com/deepikae1504/twinhealthai.git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621792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1828800" y="1591056"/>
            <a:ext cx="459943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ln w="317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</a:t>
            </a:r>
            <a:endParaRPr lang="en-US" sz="6400" dirty="0"/>
          </a:p>
          <a:p>
            <a:pPr marL="0" indent="0" algn="ctr">
              <a:buNone/>
            </a:pPr>
            <a:r>
              <a:rPr lang="en-US" sz="6400" dirty="0">
                <a:ln w="31750">
                  <a:solidFill>
                    <a:srgbClr val="FFFFFF"/>
                  </a:solidFill>
                </a:ln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blic Health Blue">
  <a:themeElements>
    <a:clrScheme name="Public Health Blue">
      <a:dk1>
        <a:srgbClr val="2F5380"/>
      </a:dk1>
      <a:lt1>
        <a:srgbClr val="FFFFFF"/>
      </a:lt1>
      <a:dk2>
        <a:srgbClr val="3D6A99"/>
      </a:dk2>
      <a:lt2>
        <a:srgbClr val="EDF4FC"/>
      </a:lt2>
      <a:accent1>
        <a:srgbClr val="3D6A99"/>
      </a:accent1>
      <a:accent2>
        <a:srgbClr val="70A2DA"/>
      </a:accent2>
      <a:accent3>
        <a:srgbClr val="A5CDF8"/>
      </a:accent3>
      <a:accent4>
        <a:srgbClr val="C5CDF3"/>
      </a:accent4>
      <a:accent5>
        <a:srgbClr val="7BA7DA"/>
      </a:accent5>
      <a:accent6>
        <a:srgbClr val="2F5380"/>
      </a:accent6>
      <a:hlink>
        <a:srgbClr val="3D6A99"/>
      </a:hlink>
      <a:folHlink>
        <a:srgbClr val="70A2DA"/>
      </a:folHlink>
    </a:clrScheme>
    <a:fontScheme name="Public Health Blue">
      <a:majorFont>
        <a:latin typeface="Arial Rounded MT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1316</Words>
  <Application>Microsoft Office PowerPoint</Application>
  <PresentationFormat>Widescreen</PresentationFormat>
  <Paragraphs>219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Rounded MT Bold</vt:lpstr>
      <vt:lpstr>Calibri</vt:lpstr>
      <vt:lpstr>Public Health Blue</vt:lpstr>
      <vt:lpstr>PowerPoint Presentation</vt:lpstr>
      <vt:lpstr>Our Team: cosmic bloom</vt:lpstr>
      <vt:lpstr>Problem statement and use case</vt:lpstr>
      <vt:lpstr>Our solution: a virtual patient</vt:lpstr>
      <vt:lpstr>Technology stack</vt:lpstr>
      <vt:lpstr>System architecture</vt:lpstr>
      <vt:lpstr>Data: two synthetic streams</vt:lpstr>
      <vt:lpstr>AI/ML models and frameworks</vt:lpstr>
      <vt:lpstr>Model and proof that fusion helps</vt:lpstr>
      <vt:lpstr>The twin and its alert rule</vt:lpstr>
      <vt:lpstr>Doctor dashboard</vt:lpstr>
      <vt:lpstr>What if the data is messy?</vt:lpstr>
      <vt:lpstr>Results at the low-false-alarm setting</vt:lpstr>
      <vt:lpstr>Security and privacy by design</vt:lpstr>
      <vt:lpstr>Limits and real-data plan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TwinHealth AI</dc:title>
  <dc:subject>PptxGenJS Presentation</dc:subject>
  <dc:creator>PptxGenJS</dc:creator>
  <cp:lastModifiedBy>S0433368</cp:lastModifiedBy>
  <cp:revision>5</cp:revision>
  <dcterms:created xsi:type="dcterms:W3CDTF">2026-10-20T09:07:44Z</dcterms:created>
  <dcterms:modified xsi:type="dcterms:W3CDTF">2026-10-20T11:01:40Z</dcterms:modified>
</cp:coreProperties>
</file>